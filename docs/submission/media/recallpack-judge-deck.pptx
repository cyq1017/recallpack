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8b7ee115da4e59" /><Relationship Type="http://schemas.openxmlformats.org/officeDocument/2006/relationships/extended-properties" Target="/docProps/app.xml" Id="Redf0eb000b8a4080" /><Relationship Type="http://schemas.openxmlformats.org/officeDocument/2006/relationships/officeDocument" Target="/ppt/presentation.xml" Id="Rfa864357725745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8afc2ad1da40b2"/>
  </p:sldMasterIdLst>
  <p:notesMasterIdLst>
    <p:notesMasterId xmlns:r="http://schemas.openxmlformats.org/officeDocument/2006/relationships" r:id="R8aa34983242a4b97"/>
  </p:notesMasterIdLst>
  <p:sldIdLst>
    <p:sldId xmlns:r="http://schemas.openxmlformats.org/officeDocument/2006/relationships" id="256" r:id="R119887e89e2f4e02"/>
    <p:sldId xmlns:r="http://schemas.openxmlformats.org/officeDocument/2006/relationships" id="257" r:id="Rea3a4f71af414fb7"/>
    <p:sldId xmlns:r="http://schemas.openxmlformats.org/officeDocument/2006/relationships" id="258" r:id="R279085480005424b"/>
    <p:sldId xmlns:r="http://schemas.openxmlformats.org/officeDocument/2006/relationships" id="259" r:id="R0d4ce458b873478e"/>
    <p:sldId xmlns:r="http://schemas.openxmlformats.org/officeDocument/2006/relationships" id="260" r:id="R093a8fe194d44335"/>
    <p:sldId xmlns:r="http://schemas.openxmlformats.org/officeDocument/2006/relationships" id="261" r:id="Reb36d7c2d93f4fc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8a06ab0d514c98" /><Relationship Type="http://schemas.openxmlformats.org/officeDocument/2006/relationships/slideMaster" Target="/ppt/slideMasters/slideMaster1.xml" Id="R448afc2ad1da40b2" /><Relationship Type="http://schemas.openxmlformats.org/officeDocument/2006/relationships/notesMaster" Target="/ppt/notesMasters/notesMaster1.xml" Id="R8aa34983242a4b97" /><Relationship Type="http://schemas.openxmlformats.org/officeDocument/2006/relationships/presProps" Target="/ppt/presProps.xml" Id="Ra966aabb3a1c49be" /><Relationship Type="http://schemas.openxmlformats.org/officeDocument/2006/relationships/tableStyles" Target="/ppt/tableStyles.xml" Id="R7940c7cbb35b41e1" /><Relationship Type="http://schemas.openxmlformats.org/officeDocument/2006/relationships/slide" Target="/ppt/slides/slide1.xml" Id="R119887e89e2f4e02" /><Relationship Type="http://schemas.openxmlformats.org/officeDocument/2006/relationships/slide" Target="/ppt/slides/slide2.xml" Id="Rea3a4f71af414fb7" /><Relationship Type="http://schemas.openxmlformats.org/officeDocument/2006/relationships/slide" Target="/ppt/slides/slide3.xml" Id="R279085480005424b" /><Relationship Type="http://schemas.openxmlformats.org/officeDocument/2006/relationships/slide" Target="/ppt/slides/slide4.xml" Id="R0d4ce458b873478e" /><Relationship Type="http://schemas.openxmlformats.org/officeDocument/2006/relationships/slide" Target="/ppt/slides/slide5.xml" Id="R093a8fe194d44335" /><Relationship Type="http://schemas.openxmlformats.org/officeDocument/2006/relationships/slide" Target="/ppt/slides/slide6.xml" Id="Reb36d7c2d93f4f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688db6ec004f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1f36d5b4f045cb" /><Relationship Type="http://schemas.openxmlformats.org/officeDocument/2006/relationships/notesMaster" Target="/ppt/notesMasters/notesMaster1.xml" Id="R9725bca4776647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297f3cd1564617" /><Relationship Type="http://schemas.openxmlformats.org/officeDocument/2006/relationships/notesMaster" Target="/ppt/notesMasters/notesMaster1.xml" Id="Ref72ca962ed74c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cbca2f46044ffb" /><Relationship Type="http://schemas.openxmlformats.org/officeDocument/2006/relationships/notesMaster" Target="/ppt/notesMasters/notesMaster1.xml" Id="Rc46b2ef7e15a4c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08a866233b4002" /><Relationship Type="http://schemas.openxmlformats.org/officeDocument/2006/relationships/notesMaster" Target="/ppt/notesMasters/notesMaster1.xml" Id="R9ada3e6a5ec44a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acf69c64bb4a70" /><Relationship Type="http://schemas.openxmlformats.org/officeDocument/2006/relationships/notesMaster" Target="/ppt/notesMasters/notesMaster1.xml" Id="R4fda6a239adb42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376d0de7ec4614" /><Relationship Type="http://schemas.openxmlformats.org/officeDocument/2006/relationships/notesMaster" Target="/ppt/notesMasters/notesMaster1.xml" Id="Rf78639f035854d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7fba47ad5244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d66a17bf154c6e" /><Relationship Type="http://schemas.openxmlformats.org/officeDocument/2006/relationships/slideLayout" Target="/ppt/slideLayouts/slideLayout1.xml" Id="R93a74edbacff43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a74edbacff43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d2a52cd3ae484b" /><Relationship Type="http://schemas.openxmlformats.org/officeDocument/2006/relationships/image" Target="/ppt/media/image.png" Id="R92675ce8a17b49be" /><Relationship Type="http://schemas.openxmlformats.org/officeDocument/2006/relationships/notesSlide" Target="/ppt/notesSlides/notesSlide1.xml" Id="R492ce7cbde6547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13da964cb6413b" /><Relationship Type="http://schemas.openxmlformats.org/officeDocument/2006/relationships/notesSlide" Target="/ppt/notesSlides/notesSlide2.xml" Id="R297ab41c33e946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2c9198c784b7b" /><Relationship Type="http://schemas.openxmlformats.org/officeDocument/2006/relationships/image" Target="/ppt/media/image2.png" Id="R9f35d51bdaf94265" /><Relationship Type="http://schemas.openxmlformats.org/officeDocument/2006/relationships/notesSlide" Target="/ppt/notesSlides/notesSlide3.xml" Id="R59af8810ded844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4f64dbe53941da" /><Relationship Type="http://schemas.openxmlformats.org/officeDocument/2006/relationships/notesSlide" Target="/ppt/notesSlides/notesSlide4.xml" Id="R96d036662a1642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35d81bd604fb2" /><Relationship Type="http://schemas.openxmlformats.org/officeDocument/2006/relationships/notesSlide" Target="/ppt/notesSlides/notesSlide5.xml" Id="Rb113314f27e348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d5a3b009f64290" /><Relationship Type="http://schemas.openxmlformats.org/officeDocument/2006/relationships/image" Target="/ppt/media/image3.png" Id="Ra7f1f4baff454d8c" /><Relationship Type="http://schemas.openxmlformats.org/officeDocument/2006/relationships/notesSlide" Target="/ppt/notesSlides/notesSlide6.xml" Id="Rd150a9c5b06c4f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720736C5-7DC3-4B6F-8522-F2B6C04E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819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eyebrow">
            <a:extLst xmlns:a="http://schemas.openxmlformats.org/drawingml/2006/main">
              <a:ext uri="{FF2B5EF4-FFF2-40B4-BE49-F238E27FC236}">
                <a16:creationId xmlns:a16="http://schemas.microsoft.com/office/drawing/2014/main" id="{75244DD8-AE76-47FD-A115-872C953A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QWEN CLOUD GLOBAL AI HACKATHON  |  MEMORYAGENT</a:t>
            </a:r>
          </a:p>
        </p:txBody>
      </p:sp>
      <p:sp>
        <p:nvSpPr>
          <p:cNvPr id="3" name="title-name">
            <a:extLst xmlns:a="http://schemas.openxmlformats.org/drawingml/2006/main">
              <a:ext uri="{FF2B5EF4-FFF2-40B4-BE49-F238E27FC236}">
                <a16:creationId xmlns:a16="http://schemas.microsoft.com/office/drawing/2014/main" id="{C8C5276D-FC8D-4CC8-9968-6985F12A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4857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51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RecallPack</a:t>
            </a:r>
          </a:p>
        </p:txBody>
      </p:sp>
      <p:sp>
        <p:nvSpPr>
          <p:cNvPr id="4" name="title-subtitle">
            <a:extLst xmlns:a="http://schemas.openxmlformats.org/drawingml/2006/main">
              <a:ext uri="{FF2B5EF4-FFF2-40B4-BE49-F238E27FC236}">
                <a16:creationId xmlns:a16="http://schemas.microsoft.com/office/drawing/2014/main" id="{924134AF-C046-4F49-99A8-2C02BD6C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47950"/>
            <a:ext cx="495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Stale-aware memory lifecycle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for coding-agent handoffs</a:t>
            </a:r>
          </a:p>
        </p:txBody>
      </p:sp>
      <p:sp>
        <p:nvSpPr>
          <p:cNvPr id="5" name="title-statement">
            <a:extLst xmlns:a="http://schemas.openxmlformats.org/drawingml/2006/main">
              <a:ext uri="{FF2B5EF4-FFF2-40B4-BE49-F238E27FC236}">
                <a16:creationId xmlns:a16="http://schemas.microsoft.com/office/drawing/2014/main" id="{3FF8CE53-EF8A-49C2-985F-EFC8442B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48150"/>
            <a:ext cx="485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When a project reverses a decision, a fresh agent must not keep treating the old decision as active.</a:t>
            </a:r>
          </a:p>
        </p:txBody>
      </p:sp>
      <p:sp>
        <p:nvSpPr>
          <p:cNvPr id="6" name="title-flow">
            <a:extLst xmlns:a="http://schemas.openxmlformats.org/drawingml/2006/main">
              <a:ext uri="{FF2B5EF4-FFF2-40B4-BE49-F238E27FC236}">
                <a16:creationId xmlns:a16="http://schemas.microsoft.com/office/drawing/2014/main" id="{3E07A36E-840A-4E26-A503-24D197B5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remember  -&gt;  supersede  -&gt;  recall under a fixed budget</a:t>
            </a:r>
          </a:p>
        </p:txBody>
      </p:sp>
      <p:sp>
        <p:nvSpPr>
          <p:cNvPr id="7" name="title-demo-frame">
            <a:extLst xmlns:a="http://schemas.openxmlformats.org/drawingml/2006/main">
              <a:ext uri="{FF2B5EF4-FFF2-40B4-BE49-F238E27FC236}">
                <a16:creationId xmlns:a16="http://schemas.microsoft.com/office/drawing/2014/main" id="{82B7044A-DB92-4B7B-9D74-987A5B3C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1171575"/>
            <a:ext cx="5772150" cy="3276600"/>
          </a:xfrm>
          <a:prstGeom xmlns:a="http://schemas.openxmlformats.org/drawingml/2006/main" prst="roundRect">
            <a:avLst>
              <a:gd name="adj" fmla="val 2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DF3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675ce8a17b49be"/>
          <a:stretch xmlns:a="http://schemas.openxmlformats.org/drawingml/2006/main"/>
        </p:blipFill>
        <p:spPr>
          <a:xfrm xmlns:a="http://schemas.openxmlformats.org/drawingml/2006/main">
            <a:off x="5943600" y="1202531"/>
            <a:ext cx="5715000" cy="3214688"/>
          </a:xfrm>
          <a:prstGeom xmlns:a="http://schemas.openxmlformats.org/drawingml/2006/main" prst="roundRect">
            <a:avLst>
              <a:gd name="adj" fmla="val 2367"/>
            </a:avLst>
          </a:prstGeom>
        </p:spPr>
      </p:pic>
      <p:sp>
        <p:nvSpPr>
          <p:cNvPr id="9" name="title-image-note">
            <a:extLst xmlns:a="http://schemas.openxmlformats.org/drawingml/2006/main">
              <a:ext uri="{FF2B5EF4-FFF2-40B4-BE49-F238E27FC236}">
                <a16:creationId xmlns:a16="http://schemas.microsoft.com/office/drawing/2014/main" id="{1E4A98D1-326E-4DF5-BC63-7CAF161B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6863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Local deterministic replay; source-backed synthetic scenario</a:t>
            </a:r>
          </a:p>
        </p:txBody>
      </p:sp>
      <p:sp>
        <p:nvSpPr>
          <p:cNvPr id="10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5DF7D3D4-1613-4A08-BC52-9EBDB192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ooter-source-1">
            <a:extLst xmlns:a="http://schemas.openxmlformats.org/drawingml/2006/main">
              <a:ext uri="{FF2B5EF4-FFF2-40B4-BE49-F238E27FC236}">
                <a16:creationId xmlns:a16="http://schemas.microsoft.com/office/drawing/2014/main" id="{80A26541-C4C3-4E96-B7CC-1C8C7A43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RecallPack: stale-decision exclusion before a handoff is compiled</a:t>
            </a:r>
          </a:p>
        </p:txBody>
      </p:sp>
      <p:sp>
        <p:nvSpPr>
          <p:cNvPr id="12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48A161E3-0779-4F17-940C-5528FA80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783963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ccent-2">
            <a:extLst xmlns:a="http://schemas.openxmlformats.org/drawingml/2006/main">
              <a:ext uri="{FF2B5EF4-FFF2-40B4-BE49-F238E27FC236}">
                <a16:creationId xmlns:a16="http://schemas.microsoft.com/office/drawing/2014/main" id="{50CC3391-CDAB-4DC4-9E03-DCF5F43A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00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2">
            <a:extLst xmlns:a="http://schemas.openxmlformats.org/drawingml/2006/main">
              <a:ext uri="{FF2B5EF4-FFF2-40B4-BE49-F238E27FC236}">
                <a16:creationId xmlns:a16="http://schemas.microsoft.com/office/drawing/2014/main" id="{38FDFA9D-EEA5-48B5-85F0-5E03F806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THE PROBLEM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CEAC8309-7F5F-4BB1-B572-876653D7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stale decision can win before the agent reasons</a:t>
            </a:r>
          </a:p>
        </p:txBody>
      </p:sp>
      <p:sp>
        <p:nvSpPr>
          <p:cNvPr id="4" name="problem-copy">
            <a:extLst xmlns:a="http://schemas.openxmlformats.org/drawingml/2006/main">
              <a:ext uri="{FF2B5EF4-FFF2-40B4-BE49-F238E27FC236}">
                <a16:creationId xmlns:a16="http://schemas.microsoft.com/office/drawing/2014/main" id="{06982768-EA33-4145-84DB-90454D73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48958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source-backed ProjectOdyssey fixture contains an older workaround and a later reversal. Under a fixed handoff budget, retrieval can surface the older policy before the fresh agent sees the correction.</a:t>
            </a:r>
          </a:p>
        </p:txBody>
      </p:sp>
      <p:sp>
        <p:nvSpPr>
          <p:cNvPr id="5" name="problem-callout">
            <a:extLst xmlns:a="http://schemas.openxmlformats.org/drawingml/2006/main">
              <a:ext uri="{FF2B5EF4-FFF2-40B4-BE49-F238E27FC236}">
                <a16:creationId xmlns:a16="http://schemas.microsoft.com/office/drawing/2014/main" id="{6DEC414F-80BA-47AD-B117-BA0AE68E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48200"/>
            <a:ext cx="48958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roblem-callout-text">
            <a:extLst xmlns:a="http://schemas.openxmlformats.org/drawingml/2006/main">
              <a:ext uri="{FF2B5EF4-FFF2-40B4-BE49-F238E27FC236}">
                <a16:creationId xmlns:a16="http://schemas.microsoft.com/office/drawing/2014/main" id="{D0CACD62-F973-4132-9E4E-C60395F0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434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C2410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2410C"/>
                </a:solidFill>
                <a:latin typeface="Aptos"/>
                <a:ea typeface="Aptos"/>
                <a:cs typeface="Aptos"/>
              </a:rPr>
              <a:t>Failure class: the stale policy is selected before reasoning begins.</a:t>
            </a:r>
          </a:p>
        </p:txBody>
      </p:sp>
      <p:sp>
        <p:nvSpPr>
          <p:cNvPr id="9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0087D420-91D7-4E02-AA94-4B0F07D8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source-2">
            <a:extLst xmlns:a="http://schemas.openxmlformats.org/drawingml/2006/main">
              <a:ext uri="{FF2B5EF4-FFF2-40B4-BE49-F238E27FC236}">
                <a16:creationId xmlns:a16="http://schemas.microsoft.com/office/drawing/2014/main" id="{88D999C2-6831-485C-907F-440CEB55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Scenario boundary: source-backed synthetic fixture, not a production trace</a:t>
            </a:r>
          </a:p>
        </p:txBody>
      </p:sp>
      <p:sp>
        <p:nvSpPr>
          <p:cNvPr id="11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94CC538A-2FC3-462B-8776-5A328D5E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problem-timeline-frame">
            <a:extLst xmlns:a="http://schemas.openxmlformats.org/drawingml/2006/main">
              <a:ext uri="{FF2B5EF4-FFF2-40B4-BE49-F238E27FC236}">
                <a16:creationId xmlns:a16="http://schemas.microsoft.com/office/drawing/2014/main" id="{D8E94629-9C26-4F4F-B57D-D6DA89B4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295525"/>
            <a:ext cx="5810250" cy="32956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4" name="timeline-label">
            <a:extLst xmlns:a="http://schemas.openxmlformats.org/drawingml/2006/main">
              <a:ext uri="{FF2B5EF4-FFF2-40B4-BE49-F238E27FC236}">
                <a16:creationId xmlns:a16="http://schemas.microsoft.com/office/drawing/2014/main" id="{CA4E70B8-3287-4380-B38B-51AF0E8E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533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ONE HANDOFF, TWO POLICIES</a:t>
            </a:r>
          </a:p>
        </p:txBody>
      </p:sp>
      <p:sp>
        <p:nvSpPr>
          <p:cNvPr id="15" name="timeline-budget">
            <a:extLst xmlns:a="http://schemas.openxmlformats.org/drawingml/2006/main">
              <a:ext uri="{FF2B5EF4-FFF2-40B4-BE49-F238E27FC236}">
                <a16:creationId xmlns:a16="http://schemas.microsoft.com/office/drawing/2014/main" id="{250B71FF-5BC2-478D-8E1D-555D08C9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05075"/>
            <a:ext cx="1685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26579"/>
                </a:solidFill>
                <a:latin typeface="Aptos"/>
                <a:ea typeface="Aptos"/>
                <a:cs typeface="Aptos"/>
              </a:rPr>
              <a:t>fixed handoff budget</a:t>
            </a:r>
          </a:p>
        </p:txBody>
      </p:sp>
      <p:sp>
        <p:nvSpPr>
          <p:cNvPr id="16" name="timeline-arrow-old-new">
            <a:extLst xmlns:a="http://schemas.openxmlformats.org/drawingml/2006/main">
              <a:ext uri="{FF2B5EF4-FFF2-40B4-BE49-F238E27FC236}">
                <a16:creationId xmlns:a16="http://schemas.microsoft.com/office/drawing/2014/main" id="{E0848608-4678-4A03-BF6E-58E15E7D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476625"/>
            <a:ext cx="4381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FCB"/>
          </a:solidFill>
          <a:ln xmlns:a="http://schemas.openxmlformats.org/drawingml/2006/main" w="0">
            <a:solidFill>
              <a:srgbClr val="A9CFCB"/>
            </a:solidFill>
            <a:prstDash val="solid"/>
          </a:ln>
        </p:spPr>
      </p:sp>
      <p:sp>
        <p:nvSpPr>
          <p:cNvPr id="17" name="timeline-arrow-new-result">
            <a:extLst xmlns:a="http://schemas.openxmlformats.org/drawingml/2006/main">
              <a:ext uri="{FF2B5EF4-FFF2-40B4-BE49-F238E27FC236}">
                <a16:creationId xmlns:a16="http://schemas.microsoft.com/office/drawing/2014/main" id="{BD9D6839-8800-402F-8C7B-971C0C01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76625"/>
            <a:ext cx="4381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B69B"/>
          </a:solidFill>
          <a:ln xmlns:a="http://schemas.openxmlformats.org/drawingml/2006/main" w="0">
            <a:solidFill>
              <a:srgbClr val="F2B69B"/>
            </a:solidFill>
            <a:prstDash val="solid"/>
          </a:ln>
        </p:spPr>
      </p:sp>
      <p:sp>
        <p:nvSpPr>
          <p:cNvPr id="18" name="timeline-arrow-budget">
            <a:extLst xmlns:a="http://schemas.openxmlformats.org/drawingml/2006/main">
              <a:ext uri="{FF2B5EF4-FFF2-40B4-BE49-F238E27FC236}">
                <a16:creationId xmlns:a16="http://schemas.microsoft.com/office/drawing/2014/main" id="{C25BCBF0-4D1A-4416-85D6-9E4C8DB2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105150"/>
            <a:ext cx="17145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2B69B"/>
          </a:solidFill>
          <a:ln xmlns:a="http://schemas.openxmlformats.org/drawingml/2006/main" w="0">
            <a:solidFill>
              <a:srgbClr val="F2B69B"/>
            </a:solidFill>
            <a:prstDash val="solid"/>
          </a:ln>
        </p:spPr>
      </p:sp>
      <p:sp>
        <p:nvSpPr>
          <p:cNvPr id="19" name="timeline-old-policy">
            <a:extLst xmlns:a="http://schemas.openxmlformats.org/drawingml/2006/main">
              <a:ext uri="{FF2B5EF4-FFF2-40B4-BE49-F238E27FC236}">
                <a16:creationId xmlns:a16="http://schemas.microsoft.com/office/drawing/2014/main" id="{FBD75F18-9A03-4BDC-9E4E-FECF95E3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095625"/>
            <a:ext cx="14287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0E9"/>
          </a:solidFill>
          <a:ln xmlns:a="http://schemas.openxmlformats.org/drawingml/2006/main" w="13335">
            <a:solidFill>
              <a:srgbClr val="F6B38D"/>
            </a:solidFill>
            <a:prstDash val="solid"/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200" b="1">
                <a:solidFill>
                  <a:srgbClr val="C2410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2410C"/>
                </a:solidFill>
                <a:latin typeface="Aptos"/>
                <a:ea typeface="Aptos"/>
                <a:cs typeface="Aptos"/>
              </a:rPr>
              <a:t>1  Earlier policy</a:t>
            </a:r>
          </a:p>
          <a:p xmlns:a="http://schemas.openxmlformats.org/drawingml/2006/main">
            <a:pPr algn="ctr">
              <a:lnSpc>
                <a:spcPct val="103000"/>
              </a:lnSpc>
              <a:buNone/>
              <a:defRPr sz="1200" b="1">
                <a:solidFill>
                  <a:srgbClr val="C2410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2410C"/>
                </a:solidFill>
                <a:latin typeface="Aptos"/>
                <a:ea typeface="Aptos"/>
                <a:cs typeface="Aptos"/>
              </a:rPr>
              <a:t>Retry with old workaround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3000"/>
              </a:lnSpc>
              <a:buNone/>
              <a:defRPr sz="1200" b="1">
                <a:solidFill>
                  <a:srgbClr val="C2410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2410C"/>
                </a:solidFill>
                <a:latin typeface="Aptos"/>
                <a:ea typeface="Aptos"/>
                <a:cs typeface="Aptos"/>
              </a:rPr>
              <a:t>Superseded</a:t>
            </a:r>
          </a:p>
        </p:txBody>
      </p:sp>
      <p:sp>
        <p:nvSpPr>
          <p:cNvPr id="20" name="timeline-active-policy">
            <a:extLst xmlns:a="http://schemas.openxmlformats.org/drawingml/2006/main">
              <a:ext uri="{FF2B5EF4-FFF2-40B4-BE49-F238E27FC236}">
                <a16:creationId xmlns:a16="http://schemas.microsoft.com/office/drawing/2014/main" id="{E0DC241F-C979-4BC6-9938-0F1587F2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95625"/>
            <a:ext cx="14287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1"/>
          </a:solidFill>
          <a:ln xmlns:a="http://schemas.openxmlformats.org/drawingml/2006/main" w="13335">
            <a:solidFill>
              <a:srgbClr val="8CCBC5"/>
            </a:solidFill>
            <a:prstDash val="solid"/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2  Later reversal</a:t>
            </a:r>
          </a:p>
          <a:p xmlns:a="http://schemas.openxmlformats.org/drawingml/2006/main">
            <a:pPr algn="ctr">
              <a:lnSpc>
                <a:spcPct val="103000"/>
              </a:lnSpc>
              <a:buNone/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Use current retry policy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3000"/>
              </a:lnSpc>
              <a:buNone/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Active</a:t>
            </a:r>
          </a:p>
        </p:txBody>
      </p:sp>
      <p:sp>
        <p:nvSpPr>
          <p:cNvPr id="21" name="timeline-stale-result">
            <a:extLst xmlns:a="http://schemas.openxmlformats.org/drawingml/2006/main">
              <a:ext uri="{FF2B5EF4-FFF2-40B4-BE49-F238E27FC236}">
                <a16:creationId xmlns:a16="http://schemas.microsoft.com/office/drawing/2014/main" id="{4152BF52-2896-457F-9F21-F227C73B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3095625"/>
            <a:ext cx="129540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EDEB"/>
          </a:solidFill>
          <a:ln xmlns:a="http://schemas.openxmlformats.org/drawingml/2006/main" w="13335">
            <a:solidFill>
              <a:srgbClr val="F4B9B2"/>
            </a:solidFill>
            <a:prstDash val="solid"/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125" b="1">
                <a:solidFill>
                  <a:srgbClr val="C2410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2410C"/>
                </a:solidFill>
                <a:latin typeface="Aptos"/>
                <a:ea typeface="Aptos"/>
                <a:cs typeface="Aptos"/>
              </a:rPr>
              <a:t>3  Naive retrieval</a:t>
            </a:r>
          </a:p>
          <a:p xmlns:a="http://schemas.openxmlformats.org/drawingml/2006/main">
            <a:pPr algn="ctr">
              <a:lnSpc>
                <a:spcPct val="103000"/>
              </a:lnSpc>
              <a:buNone/>
              <a:defRPr sz="1125" b="1">
                <a:solidFill>
                  <a:srgbClr val="C2410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2410C"/>
                </a:solidFill>
                <a:latin typeface="Aptos"/>
                <a:ea typeface="Aptos"/>
                <a:cs typeface="Aptos"/>
              </a:rPr>
              <a:t>selects the old policy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3000"/>
              </a:lnSpc>
              <a:buNone/>
              <a:defRPr sz="1125" b="1">
                <a:solidFill>
                  <a:srgbClr val="C2410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2410C"/>
                </a:solidFill>
                <a:latin typeface="Aptos"/>
                <a:ea typeface="Aptos"/>
                <a:cs typeface="Aptos"/>
              </a:rPr>
              <a:t>Wrong patch risk</a:t>
            </a:r>
          </a:p>
        </p:txBody>
      </p:sp>
      <p:sp>
        <p:nvSpPr>
          <p:cNvPr id="22" name="timeline-footnote">
            <a:extLst xmlns:a="http://schemas.openxmlformats.org/drawingml/2006/main">
              <a:ext uri="{FF2B5EF4-FFF2-40B4-BE49-F238E27FC236}">
                <a16:creationId xmlns:a16="http://schemas.microsoft.com/office/drawing/2014/main" id="{270CEF62-C85B-4C81-85CC-DC47D5FF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667250"/>
            <a:ext cx="521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26579"/>
                </a:solidFill>
                <a:latin typeface="Aptos"/>
                <a:ea typeface="Aptos"/>
                <a:cs typeface="Aptos"/>
              </a:rPr>
              <a:t>The agent reasons after retrieval; it may never see the later reversal.</a:t>
            </a:r>
          </a:p>
        </p:txBody>
      </p:sp>
    </p:spTree>
    <p:extLst>
      <p:ext uri="{BB962C8B-B14F-4D97-AF65-F5344CB8AC3E}">
        <p14:creationId xmlns:p14="http://schemas.microsoft.com/office/powerpoint/2010/main" val="18866456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ccent-3">
            <a:extLst xmlns:a="http://schemas.openxmlformats.org/drawingml/2006/main">
              <a:ext uri="{FF2B5EF4-FFF2-40B4-BE49-F238E27FC236}">
                <a16:creationId xmlns:a16="http://schemas.microsoft.com/office/drawing/2014/main" id="{6E1D1698-31DF-4FAF-94B9-813E2A52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00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3">
            <a:extLst xmlns:a="http://schemas.openxmlformats.org/drawingml/2006/main">
              <a:ext uri="{FF2B5EF4-FFF2-40B4-BE49-F238E27FC236}">
                <a16:creationId xmlns:a16="http://schemas.microsoft.com/office/drawing/2014/main" id="{AC92F9F8-BFE7-48C4-ACC0-D0F59EDE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THE PRODUCT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5524A4EB-D8F3-4FEA-A5D8-58FF57BF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Lifecycle status is set before the handoff is packed</a:t>
            </a:r>
          </a:p>
        </p:txBody>
      </p:sp>
      <p:sp>
        <p:nvSpPr>
          <p:cNvPr id="4" name="lifecycle-observe-label">
            <a:extLst xmlns:a="http://schemas.openxmlformats.org/drawingml/2006/main">
              <a:ext uri="{FF2B5EF4-FFF2-40B4-BE49-F238E27FC236}">
                <a16:creationId xmlns:a16="http://schemas.microsoft.com/office/drawing/2014/main" id="{9D80949F-E73D-41D4-9BD7-28BF8705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288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/observe</a:t>
            </a:r>
          </a:p>
        </p:txBody>
      </p:sp>
      <p:sp>
        <p:nvSpPr>
          <p:cNvPr id="5" name="lifecycle-observe-copy">
            <a:extLst xmlns:a="http://schemas.openxmlformats.org/drawingml/2006/main">
              <a:ext uri="{FF2B5EF4-FFF2-40B4-BE49-F238E27FC236}">
                <a16:creationId xmlns:a16="http://schemas.microsoft.com/office/drawing/2014/main" id="{386D7349-7724-43A5-8F00-D2732343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479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When old and new decisions co-occur, the provider path proposes memory decisions and the runtime persists active versus superseded state.</a:t>
            </a:r>
          </a:p>
        </p:txBody>
      </p:sp>
      <p:sp>
        <p:nvSpPr>
          <p:cNvPr id="6" name="lifecycle-compile-label">
            <a:extLst xmlns:a="http://schemas.openxmlformats.org/drawingml/2006/main">
              <a:ext uri="{FF2B5EF4-FFF2-40B4-BE49-F238E27FC236}">
                <a16:creationId xmlns:a16="http://schemas.microsoft.com/office/drawing/2014/main" id="{58CD74BF-6CAD-471C-B605-03D815DF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243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/compile</a:t>
            </a:r>
          </a:p>
        </p:txBody>
      </p:sp>
      <p:sp>
        <p:nvSpPr>
          <p:cNvPr id="7" name="lifecycle-compile-copy">
            <a:extLst xmlns:a="http://schemas.openxmlformats.org/drawingml/2006/main">
              <a:ext uri="{FF2B5EF4-FFF2-40B4-BE49-F238E27FC236}">
                <a16:creationId xmlns:a16="http://schemas.microsoft.com/office/drawing/2014/main" id="{AEF8AE39-37E0-4827-8920-12818D38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text-embedding-v4 retrieves candidates, qwen3-rerank improves precision, and the deterministic selector packs only active task-relevant memory.</a:t>
            </a:r>
          </a:p>
        </p:txBody>
      </p:sp>
      <p:sp>
        <p:nvSpPr>
          <p:cNvPr id="8" name="lifecycle-pack-frame">
            <a:extLst xmlns:a="http://schemas.openxmlformats.org/drawingml/2006/main">
              <a:ext uri="{FF2B5EF4-FFF2-40B4-BE49-F238E27FC236}">
                <a16:creationId xmlns:a16="http://schemas.microsoft.com/office/drawing/2014/main" id="{B18F536B-CA00-4B04-9BD6-94BBB70C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295525"/>
            <a:ext cx="5810250" cy="3295650"/>
          </a:xfrm>
          <a:prstGeom xmlns:a="http://schemas.openxmlformats.org/drawingml/2006/main" prst="roundRect">
            <a:avLst>
              <a:gd name="adj" fmla="val 28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DF3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35d51bdaf94265"/>
          <a:stretch xmlns:a="http://schemas.openxmlformats.org/drawingml/2006/main"/>
        </p:blipFill>
        <p:spPr>
          <a:xfrm xmlns:a="http://schemas.openxmlformats.org/drawingml/2006/main">
            <a:off x="5905500" y="2325291"/>
            <a:ext cx="5753100" cy="3236119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10" name="lifecycle-boundary">
            <a:extLst xmlns:a="http://schemas.openxmlformats.org/drawingml/2006/main">
              <a:ext uri="{FF2B5EF4-FFF2-40B4-BE49-F238E27FC236}">
                <a16:creationId xmlns:a16="http://schemas.microsoft.com/office/drawing/2014/main" id="{B31158FA-BC90-4275-A75C-9992C9A4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734050"/>
            <a:ext cx="575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73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Public demo: credential-free deterministic providers. Stored Qwen traces are separate integration evidence.</a:t>
            </a:r>
          </a:p>
        </p:txBody>
      </p:sp>
      <p:sp>
        <p:nvSpPr>
          <p:cNvPr id="11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ECC9362E-B91E-44A2-80F3-DEC3381E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source-3">
            <a:extLst xmlns:a="http://schemas.openxmlformats.org/drawingml/2006/main">
              <a:ext uri="{FF2B5EF4-FFF2-40B4-BE49-F238E27FC236}">
                <a16:creationId xmlns:a16="http://schemas.microsoft.com/office/drawing/2014/main" id="{219F574B-1B77-426A-B890-FF9E7226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Lifecycle is a write-time fact; relevance is resolved at recall time</a:t>
            </a:r>
          </a:p>
        </p:txBody>
      </p:sp>
      <p:sp>
        <p:nvSpPr>
          <p:cNvPr id="13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47387004-9166-4BB1-98B3-DDD43BA1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815249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accent-4">
            <a:extLst xmlns:a="http://schemas.openxmlformats.org/drawingml/2006/main">
              <a:ext uri="{FF2B5EF4-FFF2-40B4-BE49-F238E27FC236}">
                <a16:creationId xmlns:a16="http://schemas.microsoft.com/office/drawing/2014/main" id="{D364E159-2C6B-4406-A631-52C367A0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00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4">
            <a:extLst xmlns:a="http://schemas.openxmlformats.org/drawingml/2006/main">
              <a:ext uri="{FF2B5EF4-FFF2-40B4-BE49-F238E27FC236}">
                <a16:creationId xmlns:a16="http://schemas.microsoft.com/office/drawing/2014/main" id="{55E18010-4671-47AE-8C38-F869B1C3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THE EVIDENCE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7DA37D45-0070-451B-B7D7-8ACEFFB3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replay shows a failure class, not a benchmark result</a:t>
            </a:r>
          </a:p>
        </p:txBody>
      </p:sp>
      <p:sp>
        <p:nvSpPr>
          <p:cNvPr id="4" name="evidence-intro">
            <a:extLst xmlns:a="http://schemas.openxmlformats.org/drawingml/2006/main">
              <a:ext uri="{FF2B5EF4-FFF2-40B4-BE49-F238E27FC236}">
                <a16:creationId xmlns:a16="http://schemas.microsoft.com/office/drawing/2014/main" id="{F7D52171-6ABA-4060-80FE-B8C6B1BE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11010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The downstream check is a real temp-repo patch plus hidden fixture tests. The comparison is deliberately bounded: it shows what happens when stale context enters a constrained handoff, not a live failure rate or universal retrieval claim.</a:t>
            </a:r>
          </a:p>
        </p:txBody>
      </p:sp>
      <p:sp>
        <p:nvSpPr>
          <p:cNvPr id="5" name="baseline-stat-surface">
            <a:extLst xmlns:a="http://schemas.openxmlformats.org/drawingml/2006/main">
              <a:ext uri="{FF2B5EF4-FFF2-40B4-BE49-F238E27FC236}">
                <a16:creationId xmlns:a16="http://schemas.microsoft.com/office/drawing/2014/main" id="{7F2B84A5-0F89-478C-9BF0-55D4C83A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81350"/>
            <a:ext cx="33337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aseline-stat-value">
            <a:extLst xmlns:a="http://schemas.openxmlformats.org/drawingml/2006/main">
              <a:ext uri="{FF2B5EF4-FFF2-40B4-BE49-F238E27FC236}">
                <a16:creationId xmlns:a16="http://schemas.microsoft.com/office/drawing/2014/main" id="{3F74C6E6-8B7C-4894-8117-759B3AEC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2800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C2410C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C2410C"/>
                </a:solidFill>
                <a:latin typeface="Aptos"/>
                <a:ea typeface="Aptos"/>
                <a:cs typeface="Aptos"/>
              </a:rPr>
              <a:t>1/3</a:t>
            </a:r>
          </a:p>
        </p:txBody>
      </p:sp>
      <p:sp>
        <p:nvSpPr>
          <p:cNvPr id="7" name="baseline-stat-label">
            <a:extLst xmlns:a="http://schemas.openxmlformats.org/drawingml/2006/main">
              <a:ext uri="{FF2B5EF4-FFF2-40B4-BE49-F238E27FC236}">
                <a16:creationId xmlns:a16="http://schemas.microsoft.com/office/drawing/2014/main" id="{44AC4261-8C5B-48EC-8F94-E9B790C5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Baseline fixture tests when stale context drives the patch</a:t>
            </a:r>
          </a:p>
        </p:txBody>
      </p:sp>
      <p:sp>
        <p:nvSpPr>
          <p:cNvPr id="8" name="recall-stat-surface">
            <a:extLst xmlns:a="http://schemas.openxmlformats.org/drawingml/2006/main">
              <a:ext uri="{FF2B5EF4-FFF2-40B4-BE49-F238E27FC236}">
                <a16:creationId xmlns:a16="http://schemas.microsoft.com/office/drawing/2014/main" id="{BEFB2CD5-A7C0-43F7-AB4D-8243B125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81350"/>
            <a:ext cx="33337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DDF4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call-stat-value">
            <a:extLst xmlns:a="http://schemas.openxmlformats.org/drawingml/2006/main">
              <a:ext uri="{FF2B5EF4-FFF2-40B4-BE49-F238E27FC236}">
                <a16:creationId xmlns:a16="http://schemas.microsoft.com/office/drawing/2014/main" id="{CA11C960-71CF-416C-A79C-37AC2EB4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448050"/>
            <a:ext cx="2800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3/3</a:t>
            </a:r>
          </a:p>
        </p:txBody>
      </p:sp>
      <p:sp>
        <p:nvSpPr>
          <p:cNvPr id="10" name="recall-stat-label">
            <a:extLst xmlns:a="http://schemas.openxmlformats.org/drawingml/2006/main">
              <a:ext uri="{FF2B5EF4-FFF2-40B4-BE49-F238E27FC236}">
                <a16:creationId xmlns:a16="http://schemas.microsoft.com/office/drawing/2014/main" id="{068E4FBC-053E-431D-A918-C6C092783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0530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RecallPack fixture tests when active memory drives the patch</a:t>
            </a:r>
          </a:p>
        </p:txBody>
      </p:sp>
      <p:sp>
        <p:nvSpPr>
          <p:cNvPr id="11" name="coverage-stat-surface">
            <a:extLst xmlns:a="http://schemas.openxmlformats.org/drawingml/2006/main">
              <a:ext uri="{FF2B5EF4-FFF2-40B4-BE49-F238E27FC236}">
                <a16:creationId xmlns:a16="http://schemas.microsoft.com/office/drawing/2014/main" id="{E6A6459C-4BFF-4A74-94A6-B7EF7245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81350"/>
            <a:ext cx="33337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verage-stat-value">
            <a:extLst xmlns:a="http://schemas.openxmlformats.org/drawingml/2006/main">
              <a:ext uri="{FF2B5EF4-FFF2-40B4-BE49-F238E27FC236}">
                <a16:creationId xmlns:a16="http://schemas.microsoft.com/office/drawing/2014/main" id="{E38B432C-FC6A-4DEC-BD16-FDE0EC2D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48050"/>
            <a:ext cx="2800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3" name="coverage-stat-label">
            <a:extLst xmlns:a="http://schemas.openxmlformats.org/drawingml/2006/main">
              <a:ext uri="{FF2B5EF4-FFF2-40B4-BE49-F238E27FC236}">
                <a16:creationId xmlns:a16="http://schemas.microsoft.com/office/drawing/2014/main" id="{2D6FFB35-A16D-448C-A168-7EE55F81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0530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Curated lifecycle fixtures; mechanism coverage, not a broad benchmark</a:t>
            </a:r>
          </a:p>
        </p:txBody>
      </p:sp>
      <p:sp>
        <p:nvSpPr>
          <p:cNvPr id="14" name="evidence-caveat">
            <a:extLst xmlns:a="http://schemas.openxmlformats.org/drawingml/2006/main">
              <a:ext uri="{FF2B5EF4-FFF2-40B4-BE49-F238E27FC236}">
                <a16:creationId xmlns:a16="http://schemas.microsoft.com/office/drawing/2014/main" id="{35556F0B-24C1-457C-81D6-7C7D8BA3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Stored live raw-history baseline traces selected the active policy on a small fixture. That adverse result is disclosed rather than hidden.</a:t>
            </a:r>
          </a:p>
        </p:txBody>
      </p:sp>
      <p:sp>
        <p:nvSpPr>
          <p:cNvPr id="15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11B2ECA7-7847-4482-8C11-84087CA6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source-4">
            <a:extLst xmlns:a="http://schemas.openxmlformats.org/drawingml/2006/main">
              <a:ext uri="{FF2B5EF4-FFF2-40B4-BE49-F238E27FC236}">
                <a16:creationId xmlns:a16="http://schemas.microsoft.com/office/drawing/2014/main" id="{144748D4-D4EA-4B5E-B1E5-23ABF7FC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Authored deterministic replay + source-backed fixture provenance + stored live integration traces</a:t>
            </a:r>
          </a:p>
        </p:txBody>
      </p:sp>
      <p:sp>
        <p:nvSpPr>
          <p:cNvPr id="17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7C9D985E-5D30-428F-83B5-88A01C65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481462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accent-5">
            <a:extLst xmlns:a="http://schemas.openxmlformats.org/drawingml/2006/main">
              <a:ext uri="{FF2B5EF4-FFF2-40B4-BE49-F238E27FC236}">
                <a16:creationId xmlns:a16="http://schemas.microsoft.com/office/drawing/2014/main" id="{63A5C186-A856-41A8-BDC9-B6608B38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00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5">
            <a:extLst xmlns:a="http://schemas.openxmlformats.org/drawingml/2006/main">
              <a:ext uri="{FF2B5EF4-FFF2-40B4-BE49-F238E27FC236}">
                <a16:creationId xmlns:a16="http://schemas.microsoft.com/office/drawing/2014/main" id="{A569DA77-1FAD-4EBD-93D2-3DCB5105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QWEN CLOUD BOUNDARY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6786C55B-53AB-460B-B8DF-94D96015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Qwen decides semantics; code enforces contracts</a:t>
            </a:r>
          </a:p>
        </p:txBody>
      </p:sp>
      <p:sp>
        <p:nvSpPr>
          <p:cNvPr id="4" name="qwen-model-label">
            <a:extLst xmlns:a="http://schemas.openxmlformats.org/drawingml/2006/main">
              <a:ext uri="{FF2B5EF4-FFF2-40B4-BE49-F238E27FC236}">
                <a16:creationId xmlns:a16="http://schemas.microsoft.com/office/drawing/2014/main" id="{E5966E5F-9F85-4DC7-BD0E-410BBC596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Qwen model work</a:t>
            </a:r>
          </a:p>
        </p:txBody>
      </p:sp>
      <p:sp>
        <p:nvSpPr>
          <p:cNvPr id="5" name="qwen-model-copy">
            <a:extLst xmlns:a="http://schemas.openxmlformats.org/drawingml/2006/main">
              <a:ext uri="{FF2B5EF4-FFF2-40B4-BE49-F238E27FC236}">
                <a16:creationId xmlns:a16="http://schemas.microsoft.com/office/drawing/2014/main" id="{4C78B307-3375-442D-B1D9-23E65D52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28900"/>
            <a:ext cx="49720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Memory decision and supersession judgment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text-embedding-v4 candidate retrieval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qwen3-rerank precision improvement</a:t>
            </a:r>
          </a:p>
        </p:txBody>
      </p:sp>
      <p:sp>
        <p:nvSpPr>
          <p:cNvPr id="6" name="qwen-runtime-label">
            <a:extLst xmlns:a="http://schemas.openxmlformats.org/drawingml/2006/main">
              <a:ext uri="{FF2B5EF4-FFF2-40B4-BE49-F238E27FC236}">
                <a16:creationId xmlns:a16="http://schemas.microsoft.com/office/drawing/2014/main" id="{7A2BECE4-8478-4BD3-9060-F5DB939C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Deterministic runtime work</a:t>
            </a:r>
          </a:p>
        </p:txBody>
      </p:sp>
      <p:sp>
        <p:nvSpPr>
          <p:cNvPr id="7" name="qwen-runtime-copy">
            <a:extLst xmlns:a="http://schemas.openxmlformats.org/drawingml/2006/main">
              <a:ext uri="{FF2B5EF4-FFF2-40B4-BE49-F238E27FC236}">
                <a16:creationId xmlns:a16="http://schemas.microsoft.com/office/drawing/2014/main" id="{6729C92F-DF44-47AB-B06B-217D19C9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24400"/>
            <a:ext cx="4972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Event ordering, lifecycle filtering, token accounting, budget selection, pack assembly, and test execution stay reviewable in normal code.</a:t>
            </a:r>
          </a:p>
        </p:txBody>
      </p:sp>
      <p:sp>
        <p:nvSpPr>
          <p:cNvPr id="10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C06B2AAF-35D3-48ED-823A-57185F67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ooter-source-5">
            <a:extLst xmlns:a="http://schemas.openxmlformats.org/drawingml/2006/main">
              <a:ext uri="{FF2B5EF4-FFF2-40B4-BE49-F238E27FC236}">
                <a16:creationId xmlns:a16="http://schemas.microsoft.com/office/drawing/2014/main" id="{475F1133-FBF8-4659-A83E-21FE12BF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Stored live provider-path traces are integration evidence, not a statistical benchmark</a:t>
            </a:r>
          </a:p>
        </p:txBody>
      </p:sp>
      <p:sp>
        <p:nvSpPr>
          <p:cNvPr id="12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8B19E50E-0883-400E-A848-84FDB9B4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4" name="qwen-boundary-frame">
            <a:extLst xmlns:a="http://schemas.openxmlformats.org/drawingml/2006/main">
              <a:ext uri="{FF2B5EF4-FFF2-40B4-BE49-F238E27FC236}">
                <a16:creationId xmlns:a16="http://schemas.microsoft.com/office/drawing/2014/main" id="{88FDB4FE-6212-4481-9586-D815ED4F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105025"/>
            <a:ext cx="5810250" cy="32956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5" name="qwen-path-label">
            <a:extLst xmlns:a="http://schemas.openxmlformats.org/drawingml/2006/main">
              <a:ext uri="{FF2B5EF4-FFF2-40B4-BE49-F238E27FC236}">
                <a16:creationId xmlns:a16="http://schemas.microsoft.com/office/drawing/2014/main" id="{4EF1AE4A-AA2B-47FF-A96C-7E2F0E67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37172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MODEL WORK</a:t>
            </a:r>
          </a:p>
        </p:txBody>
      </p:sp>
      <p:sp>
        <p:nvSpPr>
          <p:cNvPr id="16" name="runtime-path-label">
            <a:extLst xmlns:a="http://schemas.openxmlformats.org/drawingml/2006/main">
              <a:ext uri="{FF2B5EF4-FFF2-40B4-BE49-F238E27FC236}">
                <a16:creationId xmlns:a16="http://schemas.microsoft.com/office/drawing/2014/main" id="{4718166B-048A-4FCB-B389-74BB5F0E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71725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DETERMINISTIC RUNTIME</a:t>
            </a:r>
          </a:p>
        </p:txBody>
      </p:sp>
      <p:sp>
        <p:nvSpPr>
          <p:cNvPr id="17" name="qwen-path-arrow-1">
            <a:extLst xmlns:a="http://schemas.openxmlformats.org/drawingml/2006/main">
              <a:ext uri="{FF2B5EF4-FFF2-40B4-BE49-F238E27FC236}">
                <a16:creationId xmlns:a16="http://schemas.microsoft.com/office/drawing/2014/main" id="{2C695016-F09D-4056-8C61-F5B8451C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2900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FCB"/>
          </a:solidFill>
          <a:ln xmlns:a="http://schemas.openxmlformats.org/drawingml/2006/main" w="0">
            <a:solidFill>
              <a:srgbClr val="A9CFCB"/>
            </a:solidFill>
            <a:prstDash val="solid"/>
          </a:ln>
        </p:spPr>
      </p:sp>
      <p:sp>
        <p:nvSpPr>
          <p:cNvPr id="18" name="qwen-path-arrow-2">
            <a:extLst xmlns:a="http://schemas.openxmlformats.org/drawingml/2006/main">
              <a:ext uri="{FF2B5EF4-FFF2-40B4-BE49-F238E27FC236}">
                <a16:creationId xmlns:a16="http://schemas.microsoft.com/office/drawing/2014/main" id="{8AD30363-4280-474F-92C8-EB059E91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42900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ED8BC"/>
          </a:solidFill>
          <a:ln xmlns:a="http://schemas.openxmlformats.org/drawingml/2006/main" w="0">
            <a:solidFill>
              <a:srgbClr val="AED8BC"/>
            </a:solidFill>
            <a:prstDash val="solid"/>
          </a:ln>
        </p:spPr>
      </p:sp>
      <p:sp>
        <p:nvSpPr>
          <p:cNvPr id="19" name="qwen-text-card">
            <a:extLst xmlns:a="http://schemas.openxmlformats.org/drawingml/2006/main">
              <a:ext uri="{FF2B5EF4-FFF2-40B4-BE49-F238E27FC236}">
                <a16:creationId xmlns:a16="http://schemas.microsoft.com/office/drawing/2014/main" id="{0B8812F8-E6F9-4D0E-9DB7-D2B45F00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857500"/>
            <a:ext cx="1333500" cy="14287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0F2F1"/>
          </a:solidFill>
          <a:ln xmlns:a="http://schemas.openxmlformats.org/drawingml/2006/main" w="13335">
            <a:solidFill>
              <a:srgbClr val="8CCBC5"/>
            </a:solidFill>
            <a:prstDash val="solid"/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Qwen text model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3000"/>
              </a:lnSpc>
              <a:buNone/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Memory decision</a:t>
            </a:r>
          </a:p>
          <a:p xmlns:a="http://schemas.openxmlformats.org/drawingml/2006/main">
            <a:pPr algn="ctr">
              <a:lnSpc>
                <a:spcPct val="103000"/>
              </a:lnSpc>
              <a:buNone/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Supersession judgment</a:t>
            </a:r>
          </a:p>
        </p:txBody>
      </p:sp>
      <p:sp>
        <p:nvSpPr>
          <p:cNvPr id="20" name="qwen-retrieval-card">
            <a:extLst xmlns:a="http://schemas.openxmlformats.org/drawingml/2006/main">
              <a:ext uri="{FF2B5EF4-FFF2-40B4-BE49-F238E27FC236}">
                <a16:creationId xmlns:a16="http://schemas.microsoft.com/office/drawing/2014/main" id="{087FC200-20AF-4ED3-9173-911F5689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857500"/>
            <a:ext cx="1524000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1FC"/>
          </a:solidFill>
          <a:ln xmlns:a="http://schemas.openxmlformats.org/drawingml/2006/main" w="13335">
            <a:solidFill>
              <a:srgbClr val="A9C8E9"/>
            </a:solidFill>
            <a:prstDash val="solid"/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0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text-embedding-v4</a:t>
            </a:r>
          </a:p>
          <a:p xmlns:a="http://schemas.openxmlformats.org/drawingml/2006/main">
            <a:pPr algn="ctr">
              <a:lnSpc>
                <a:spcPct val="103000"/>
              </a:lnSpc>
              <a:buNone/>
              <a:defRPr sz="10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qwen3-rerank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3000"/>
              </a:lnSpc>
              <a:buNone/>
              <a:defRPr sz="10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Retrieve and rank</a:t>
            </a:r>
          </a:p>
          <a:p xmlns:a="http://schemas.openxmlformats.org/drawingml/2006/main">
            <a:pPr algn="ctr">
              <a:lnSpc>
                <a:spcPct val="103000"/>
              </a:lnSpc>
              <a:buNone/>
              <a:defRPr sz="10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candidates</a:t>
            </a:r>
          </a:p>
        </p:txBody>
      </p:sp>
      <p:sp>
        <p:nvSpPr>
          <p:cNvPr id="21" name="runtime-contract-card">
            <a:extLst xmlns:a="http://schemas.openxmlformats.org/drawingml/2006/main">
              <a:ext uri="{FF2B5EF4-FFF2-40B4-BE49-F238E27FC236}">
                <a16:creationId xmlns:a16="http://schemas.microsoft.com/office/drawing/2014/main" id="{F1566F42-6E7C-4323-84EC-9A1C68FE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857500"/>
            <a:ext cx="1714500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7F6EC"/>
          </a:solidFill>
          <a:ln xmlns:a="http://schemas.openxmlformats.org/drawingml/2006/main" w="13335">
            <a:solidFill>
              <a:srgbClr val="A5D8B6"/>
            </a:solidFill>
            <a:prstDash val="solid"/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125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Normal code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3000"/>
              </a:lnSpc>
              <a:buNone/>
              <a:defRPr sz="1125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Order events</a:t>
            </a:r>
          </a:p>
          <a:p xmlns:a="http://schemas.openxmlformats.org/drawingml/2006/main">
            <a:pPr algn="ctr">
              <a:lnSpc>
                <a:spcPct val="103000"/>
              </a:lnSpc>
              <a:buNone/>
              <a:defRPr sz="1125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Filter lifecycle</a:t>
            </a:r>
          </a:p>
          <a:p xmlns:a="http://schemas.openxmlformats.org/drawingml/2006/main">
            <a:pPr algn="ctr">
              <a:lnSpc>
                <a:spcPct val="103000"/>
              </a:lnSpc>
              <a:buNone/>
              <a:defRPr sz="1125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Select 512-token budget</a:t>
            </a:r>
          </a:p>
          <a:p xmlns:a="http://schemas.openxmlformats.org/drawingml/2006/main">
            <a:pPr algn="ctr">
              <a:lnSpc>
                <a:spcPct val="103000"/>
              </a:lnSpc>
              <a:buNone/>
              <a:defRPr sz="1125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Assemble pack</a:t>
            </a:r>
          </a:p>
        </p:txBody>
      </p:sp>
      <p:sp>
        <p:nvSpPr>
          <p:cNvPr id="22" name="qwen-path-footnote">
            <a:extLst xmlns:a="http://schemas.openxmlformats.org/drawingml/2006/main">
              <a:ext uri="{FF2B5EF4-FFF2-40B4-BE49-F238E27FC236}">
                <a16:creationId xmlns:a16="http://schemas.microsoft.com/office/drawing/2014/main" id="{243E2BA2-CB55-4067-89F8-906FCE9D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667250"/>
            <a:ext cx="520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26579"/>
                </a:solidFill>
                <a:latin typeface="Aptos"/>
                <a:ea typeface="Aptos"/>
                <a:cs typeface="Aptos"/>
              </a:rPr>
              <a:t>Sanitized provider traces make the model boundary reviewable; normal code remains deterministic.</a:t>
            </a:r>
          </a:p>
        </p:txBody>
      </p:sp>
    </p:spTree>
    <p:extLst>
      <p:ext uri="{BB962C8B-B14F-4D97-AF65-F5344CB8AC3E}">
        <p14:creationId xmlns:p14="http://schemas.microsoft.com/office/powerpoint/2010/main" val="18362329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ccent-6">
            <a:extLst xmlns:a="http://schemas.openxmlformats.org/drawingml/2006/main">
              <a:ext uri="{FF2B5EF4-FFF2-40B4-BE49-F238E27FC236}">
                <a16:creationId xmlns:a16="http://schemas.microsoft.com/office/drawing/2014/main" id="{90C273A3-6D2E-4091-972B-B8E145D4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00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6">
            <a:extLst xmlns:a="http://schemas.openxmlformats.org/drawingml/2006/main">
              <a:ext uri="{FF2B5EF4-FFF2-40B4-BE49-F238E27FC236}">
                <a16:creationId xmlns:a16="http://schemas.microsoft.com/office/drawing/2014/main" id="{EF1C98AD-8628-45D7-A38B-3A87B0E1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JUDGE PATH</a:t>
            </a:r>
          </a:p>
        </p:txBody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12362CD8-7444-498F-A684-C6F6D6D3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 judge can replay the product and inspect its limits</a:t>
            </a:r>
          </a:p>
        </p:txBody>
      </p:sp>
      <p:sp>
        <p:nvSpPr>
          <p:cNvPr id="4" name="judge-proof-label">
            <a:extLst xmlns:a="http://schemas.openxmlformats.org/drawingml/2006/main">
              <a:ext uri="{FF2B5EF4-FFF2-40B4-BE49-F238E27FC236}">
                <a16:creationId xmlns:a16="http://schemas.microsoft.com/office/drawing/2014/main" id="{BE269FE9-EB55-4962-B4BF-6E0738F3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What is ready to inspect</a:t>
            </a:r>
          </a:p>
        </p:txBody>
      </p:sp>
      <p:sp>
        <p:nvSpPr>
          <p:cNvPr id="5" name="judge-proof-copy">
            <a:extLst xmlns:a="http://schemas.openxmlformats.org/drawingml/2006/main">
              <a:ext uri="{FF2B5EF4-FFF2-40B4-BE49-F238E27FC236}">
                <a16:creationId xmlns:a16="http://schemas.microsoft.com/office/drawing/2014/main" id="{7532B515-A199-472A-B720-5CFAF0BC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28900"/>
            <a:ext cx="4857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Sanitized source bundle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Fresh-clone smoke, local demo, and judge smoke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585 local tests in final verification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Credential-free public replay surface</a:t>
            </a:r>
          </a:p>
        </p:txBody>
      </p:sp>
      <p:sp>
        <p:nvSpPr>
          <p:cNvPr id="6" name="judge-limit-surface">
            <a:extLst xmlns:a="http://schemas.openxmlformats.org/drawingml/2006/main">
              <a:ext uri="{FF2B5EF4-FFF2-40B4-BE49-F238E27FC236}">
                <a16:creationId xmlns:a16="http://schemas.microsoft.com/office/drawing/2014/main" id="{1B8A7500-F1DC-4864-B8C8-FB223C85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0"/>
            <a:ext cx="4953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judge-limit-copy">
            <a:extLst xmlns:a="http://schemas.openxmlformats.org/drawingml/2006/main">
              <a:ext uri="{FF2B5EF4-FFF2-40B4-BE49-F238E27FC236}">
                <a16:creationId xmlns:a16="http://schemas.microsoft.com/office/drawing/2014/main" id="{575BE234-5BF6-4A64-B12A-D7D5E443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91050"/>
            <a:ext cx="4400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23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Bounded claims: no universal retrieval superiority, no guaranteed live downstream success, and no claim that the source-backed fixture is production-trace evidence.</a:t>
            </a:r>
          </a:p>
        </p:txBody>
      </p:sp>
      <p:sp>
        <p:nvSpPr>
          <p:cNvPr id="8" name="deployment-proof-frame">
            <a:extLst xmlns:a="http://schemas.openxmlformats.org/drawingml/2006/main">
              <a:ext uri="{FF2B5EF4-FFF2-40B4-BE49-F238E27FC236}">
                <a16:creationId xmlns:a16="http://schemas.microsoft.com/office/drawing/2014/main" id="{CCF342EC-C638-4810-9839-79B993B3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105025"/>
            <a:ext cx="5810250" cy="3295650"/>
          </a:xfrm>
          <a:prstGeom xmlns:a="http://schemas.openxmlformats.org/drawingml/2006/main" prst="roundRect">
            <a:avLst>
              <a:gd name="adj" fmla="val 28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DF3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f1f4baff454d8c"/>
          <a:stretch xmlns:a="http://schemas.openxmlformats.org/drawingml/2006/main"/>
        </p:blipFill>
        <p:spPr>
          <a:xfrm xmlns:a="http://schemas.openxmlformats.org/drawingml/2006/main">
            <a:off x="5905500" y="2134791"/>
            <a:ext cx="5753100" cy="3236119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10" name="judge-closing">
            <a:extLst xmlns:a="http://schemas.openxmlformats.org/drawingml/2006/main">
              <a:ext uri="{FF2B5EF4-FFF2-40B4-BE49-F238E27FC236}">
                <a16:creationId xmlns:a16="http://schemas.microsoft.com/office/drawing/2014/main" id="{58E35CF4-A7AA-4FF8-BDCA-F65FF1DC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657850"/>
            <a:ext cx="575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870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RecallPack makes stale-decision exclusion structural before a fresh coding agent starts reasoning.</a:t>
            </a:r>
          </a:p>
        </p:txBody>
      </p:sp>
      <p:sp>
        <p:nvSpPr>
          <p:cNvPr id="11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19D7EC41-675F-4D0D-A5EC-3C104A1D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source-6">
            <a:extLst xmlns:a="http://schemas.openxmlformats.org/drawingml/2006/main">
              <a:ext uri="{FF2B5EF4-FFF2-40B4-BE49-F238E27FC236}">
                <a16:creationId xmlns:a16="http://schemas.microsoft.com/office/drawing/2014/main" id="{96DF2048-AEE2-4FA9-B933-600963C5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Deployment visual is redacted; no credentials, private paths, or personal account data included</a:t>
            </a:r>
          </a:p>
        </p:txBody>
      </p:sp>
      <p:sp>
        <p:nvSpPr>
          <p:cNvPr id="13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B270DF11-EB30-40A7-BEDC-1F0C31DE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206463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2026-07-20T14:37:03.9400000Z</dcterms:created>
  <dcterms:modified xsi:type="dcterms:W3CDTF">2026-07-20T14:37:03.9400000Z</dcterms:modified>
</coreProperties>
</file>